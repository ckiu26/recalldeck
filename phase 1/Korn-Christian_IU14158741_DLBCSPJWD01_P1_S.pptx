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Passive re-reading</c:v>
                </c:pt>
              </c:strCache>
            </c:strRef>
          </c:tx>
          <c:spPr>
            <a:solidFill>
              <a:srgbClr val="475569"/>
            </a:solidFill>
            <a:ln w="38100" cap="flat">
              <a:solidFill>
                <a:srgbClr val="4755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75569"/>
              </a:solidFill>
              <a:ln w="9525" cap="flat">
                <a:solidFill>
                  <a:srgbClr val="4755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Day 0</c:v>
                  </c:pt>
                  <c:pt idx="1">
                    <c:v>Day 2</c:v>
                  </c:pt>
                  <c:pt idx="2">
                    <c:v>Day 5</c:v>
                  </c:pt>
                  <c:pt idx="3">
                    <c:v>Day 9</c:v>
                  </c:pt>
                  <c:pt idx="4">
                    <c:v>Day 14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58</c:v>
                </c:pt>
                <c:pt idx="2">
                  <c:v>38</c:v>
                </c:pt>
                <c:pt idx="3">
                  <c:v>25</c:v>
                </c:pt>
                <c:pt idx="4">
                  <c:v>18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RecallDeck (spaced)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Day 0</c:v>
                  </c:pt>
                  <c:pt idx="1">
                    <c:v>Day 2</c:v>
                  </c:pt>
                  <c:pt idx="2">
                    <c:v>Day 5</c:v>
                  </c:pt>
                  <c:pt idx="3">
                    <c:v>Day 9</c:v>
                  </c:pt>
                  <c:pt idx="4">
                    <c:v>Day 14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88</c:v>
                </c:pt>
                <c:pt idx="2">
                  <c:v>82</c:v>
                </c:pt>
                <c:pt idx="3">
                  <c:v>85</c:v>
                </c:pt>
                <c:pt idx="4">
                  <c:v>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4338C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6D5BD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1371600" cy="1371600"/>
          </a:xfrm>
          <a:prstGeom prst="ellipse">
            <a:avLst/>
          </a:prstGeom>
          <a:solidFill>
            <a:srgbClr val="4338CA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171907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926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RecallDeck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8862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spaced-repetition flashcard web app that helps you remember more by studying less.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41248" y="4800600"/>
            <a:ext cx="29260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983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Java and Web Development  ·  DLBCSPJWD01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— Phase 1: Conception   |   Christian Korn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the purpose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196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is fast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review, learners lose a large share of new material within days — the classic “forgetting curve.”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56692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063240"/>
            <a:ext cx="82296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912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Re-reading is passive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56616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Highlighting and re-reading feel productive but lead to weak, short-lived recall.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56692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434840"/>
            <a:ext cx="82296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5628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sense of progress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3776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can’t see what they actually know, so motivation fades.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691640"/>
            <a:ext cx="4892040" cy="178308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938528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479792" y="1938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purpose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03720" y="24688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learners retain knowledge longer through active recall and spaced repetition — and let them see their progress so they stay motivated.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29400" y="35661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 + spacing beats passive review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schematic — concept after Ebbinghaus’ forgetting curve (1885)</a:t>
            </a:r>
            <a:endParaRPr lang="en-US" sz="12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629400" y="4069080"/>
          <a:ext cx="48920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RecallDeck  ·  DLBCSPJWD01  ·  Conception phase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058400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users &amp; their benefits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20240"/>
            <a:ext cx="777240" cy="77724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09397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exam-prep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and certification candidates memorising large volumes of facts, terms and formulas.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64592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920240"/>
            <a:ext cx="777240" cy="77724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09397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learners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3154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drilling vocabulary in a new language, where daily repetition is essential.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164592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1920240"/>
            <a:ext cx="777240" cy="77724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093976"/>
            <a:ext cx="429768" cy="4297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self-learners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21040" y="3154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studying a new field who wants durable knowledge, not just short-term cramming.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114800"/>
            <a:ext cx="10881360" cy="214884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914400" y="43159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benefit to the user</a:t>
            </a:r>
            <a:endParaRPr lang="en-US" sz="18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7375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98448" y="48280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smarter, not longer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14400" y="534924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only the cards you’re about to forget — far less wasted time.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4873752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50208" y="48280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return at the right moment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3566160" y="534924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scheduling engine times each review to maximise long-term memory.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873752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601968" y="48280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progress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6217920" y="534924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streaks are tracked and charted, keeping motivation high.</a:t>
            </a:r>
            <a:endParaRPr lang="en-US" sz="11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4873752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253728" y="48280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Anywhere, any device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869680" y="534924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 and stays readable on phone, tablet and desktop.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RecallDeck  ·  DLBCSPJWD01  ·  Conception phase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0058400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 &amp; functionality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49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956816"/>
            <a:ext cx="841248" cy="841248"/>
          </a:xfrm>
          <a:prstGeom prst="ellipse">
            <a:avLst/>
          </a:prstGeom>
          <a:solidFill>
            <a:srgbClr val="EEF0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579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38528" y="1847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&amp; card management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938528" y="22128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CRUD: create, edit, organise and delete decks and cards. Stored in and served from the backend.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645920"/>
            <a:ext cx="5349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1956816"/>
            <a:ext cx="841248" cy="841248"/>
          </a:xfrm>
          <a:prstGeom prst="ellipse">
            <a:avLst/>
          </a:prstGeom>
          <a:solidFill>
            <a:srgbClr val="EEF0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5798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16368" y="1847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/ quiz mode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516368" y="22128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are shown one at a time; the user reveals the answer and self-rates recall (Again · Hard · Good · Easy).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273552"/>
            <a:ext cx="5349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3584448"/>
            <a:ext cx="841248" cy="841248"/>
          </a:xfrm>
          <a:prstGeom prst="ellipse">
            <a:avLst/>
          </a:prstGeom>
          <a:solidFill>
            <a:srgbClr val="EEF0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785616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38528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Spaced-repetition engine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938528" y="3840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SM-2-style algorithm (Wozniak, 1990) runs on the server to schedule each card’s next review date from the user’s rating.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3273552"/>
            <a:ext cx="5349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73952" y="3584448"/>
            <a:ext cx="841248" cy="841248"/>
          </a:xfrm>
          <a:prstGeom prst="ellipse">
            <a:avLst/>
          </a:prstGeom>
          <a:solidFill>
            <a:srgbClr val="EEF0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785616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16368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&amp; progress charts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516368" y="3840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aggregates results so the front-end can chart accuracy over time and “cards due today.”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dynamic front-end ↔ back-end interactions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14400" y="55961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saving decks/cards via the REST API (CRUD).    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 quiz answer → backend updates the schedule and returns fresh stats that redraw the progress chart.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RecallDeck  ·  DLBCSPJWD01  ·  Conception phase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058400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choices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3520440" cy="868680"/>
          </a:xfrm>
          <a:prstGeom prst="rect">
            <a:avLst/>
          </a:prstGeom>
          <a:solidFill>
            <a:srgbClr val="4338C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3852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32688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SPA. Responsive layout with CSS flex/grid &amp; media queries; Chart.js for the progress charts.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1691640"/>
            <a:ext cx="35204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691640"/>
            <a:ext cx="3520440" cy="868680"/>
          </a:xfrm>
          <a:prstGeom prst="rect">
            <a:avLst/>
          </a:prstGeom>
          <a:solidFill>
            <a:srgbClr val="4338C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93852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36008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 + Express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636008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 API that handles CRUD, runs the spaced-repetition logic and aggregates statistics.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46720" y="1691640"/>
            <a:ext cx="35204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0" y="1691640"/>
            <a:ext cx="3520440" cy="868680"/>
          </a:xfrm>
          <a:prstGeom prst="rect">
            <a:avLst/>
          </a:prstGeom>
          <a:solidFill>
            <a:srgbClr val="4338C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38528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06840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39328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339328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Embedded, file-based store — no separate DB server to install, so it’s trivial to run, ship and grade.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4754880"/>
            <a:ext cx="10881360" cy="1508760"/>
          </a:xfrm>
          <a:prstGeom prst="rect">
            <a:avLst/>
          </a:prstGeom>
          <a:solidFill>
            <a:srgbClr val="EEF0FB"/>
          </a:solidFill>
          <a:ln w="12700">
            <a:solidFill>
              <a:srgbClr val="E4E2F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440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stack?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914400" y="5257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to a JavaScript-first skill set (one language across the stack), keeps the project self-contained with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 or paid service required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matches the assignment’s example stack while staying lightweight. External APIs, if added later, would be proxied through the Express back-end — never called directly from the browser.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RecallDeck  ·  DLBCSPJWD01  ·  Conception phase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058400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data flow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3246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3246120" cy="713232"/>
          </a:xfrm>
          <a:prstGeom prst="rect">
            <a:avLst/>
          </a:prstGeom>
          <a:solidFill>
            <a:srgbClr val="1E1B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854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81912" y="20116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(Browser)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9848" y="28346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single-page app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69848" y="315468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decks, study mode &amp; charts</a:t>
            </a:r>
            <a:endParaRPr lang="en-US" sz="103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fetch/JSON requests</a:t>
            </a:r>
            <a:endParaRPr lang="en-US" sz="103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Responsive: desktop · tablet · phone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4462272" y="2011680"/>
            <a:ext cx="3246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62272" y="2011680"/>
            <a:ext cx="3246120" cy="713232"/>
          </a:xfrm>
          <a:prstGeom prst="rect">
            <a:avLst/>
          </a:prstGeom>
          <a:solidFill>
            <a:srgbClr val="4338C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18541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75504" y="20116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(Server)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63440" y="28346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663440" y="315468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&amp; routes requests</a:t>
            </a:r>
            <a:endParaRPr lang="en-US" sz="103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spaced-repetition scheduling</a:t>
            </a:r>
            <a:endParaRPr lang="en-US" sz="103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scores for charts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8046720" y="2011680"/>
            <a:ext cx="3246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0" y="2011680"/>
            <a:ext cx="3246120" cy="713232"/>
          </a:xfrm>
          <a:prstGeom prst="rect">
            <a:avLst/>
          </a:prstGeom>
          <a:solidFill>
            <a:srgbClr val="6D5BD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18541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59952" y="20116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247888" y="28346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247888" y="315468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decks &amp; cards</a:t>
            </a:r>
            <a:endParaRPr lang="en-US" sz="103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reviews &amp; due dates</a:t>
            </a:r>
            <a:endParaRPr lang="en-US" sz="103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— no server install</a:t>
            </a:r>
            <a:endParaRPr lang="en-US" sz="1030" dirty="0"/>
          </a:p>
        </p:txBody>
      </p:sp>
      <p:sp>
        <p:nvSpPr>
          <p:cNvPr id="23" name="Shape 18"/>
          <p:cNvSpPr/>
          <p:nvPr/>
        </p:nvSpPr>
        <p:spPr>
          <a:xfrm>
            <a:off x="4050792" y="26929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52" y="2830068"/>
            <a:ext cx="246888" cy="24688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635240" y="26929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830068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8680" y="4023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 over REST  —  requests flow right, data flows back left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68680" y="4617720"/>
            <a:ext cx="10424160" cy="160020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1143000" y="4773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quality &amp; maintainability</a:t>
            </a:r>
            <a:endParaRPr lang="en-US" sz="17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285232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472184" y="52486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Commented code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1143000" y="55961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inline documentation of intent and execution.</a:t>
            </a:r>
            <a:endParaRPr lang="en-US" sz="103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5032" y="5285232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014216" y="52486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3685032" y="55961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managed in a public GitHub repository.</a:t>
            </a:r>
            <a:endParaRPr lang="en-US" sz="103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5285232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556248" y="52486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6227064" y="55961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/ integration tests for the scheduling logic &amp; API.</a:t>
            </a:r>
            <a:endParaRPr lang="en-US" sz="103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9096" y="5285232"/>
            <a:ext cx="256032" cy="25603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9098280" y="52486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setup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8769096" y="55961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install &amp; run instructions.</a:t>
            </a:r>
            <a:endParaRPr lang="en-US" sz="1030" dirty="0"/>
          </a:p>
        </p:txBody>
      </p:sp>
      <p:sp>
        <p:nvSpPr>
          <p:cNvPr id="42" name="Text 31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RecallDeck  ·  DLBCSPJWD01  ·  Conception phase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10058400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RecallDeck — Concept (Phase 1)</dc:title>
  <dc:subject>PptxGenJS Presentation</dc:subject>
  <dc:creator>Christian Korn</dc:creator>
  <cp:lastModifiedBy>Christian Korn</cp:lastModifiedBy>
  <cp:revision>1</cp:revision>
  <dcterms:created xsi:type="dcterms:W3CDTF">2026-06-19T09:34:02Z</dcterms:created>
  <dcterms:modified xsi:type="dcterms:W3CDTF">2026-06-19T09:34:02Z</dcterms:modified>
</cp:coreProperties>
</file>